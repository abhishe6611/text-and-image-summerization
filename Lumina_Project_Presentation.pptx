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Lumina AI Synthesizer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Document and Media Summarization</a:t>
            </a:r>
          </a:p>
          <a:p>
            <a:r>
              <a:t>Simple, Fast, and Powerful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Lumina Can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1. Text Summarization: Paste entire articles or essays and get instant summaries.</a:t>
            </a:r>
          </a:p>
          <a:p>
            <a:pPr>
              <a:defRPr sz="2000"/>
            </a:pPr>
            <a:r>
              <a:t>2. Document Understanding: Upload massive PDFs or Word Docs for rapid insights.</a:t>
            </a:r>
          </a:p>
          <a:p>
            <a:pPr>
              <a:defRPr sz="2000"/>
            </a:pPr>
            <a:r>
              <a:t>3. Media Analysis: Drop in images, GIFs, or Videos, and Lumina describes and understands them.</a:t>
            </a:r>
          </a:p>
          <a:p>
            <a:pPr>
              <a:defRPr sz="2000"/>
            </a:pPr>
            <a:r>
              <a:t>4. Clean Export: Download your insights easily to PDF, Text, or Word formats.</a:t>
            </a:r>
          </a:p>
          <a:p>
            <a:pPr>
              <a:defRPr sz="2000"/>
            </a:pPr>
            <a:r>
              <a:t>5. Memory Timeline: Retrieve previous analysis from your history securely and instantly.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(The Workflow)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743200"/>
            <a:ext cx="1828800" cy="1097280"/>
          </a:xfrm>
          <a:prstGeom prst="roundRect">
            <a:avLst/>
          </a:prstGeom>
          <a:solidFill>
            <a:srgbClr val="D4A24A"/>
          </a:solidFill>
          <a:ln>
            <a:solidFill>
              <a:srgbClr val="B4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410"/>
                </a:solidFill>
              </a:defRPr>
            </a:pPr>
            <a:r>
              <a:t>1. Upload Data</a:t>
            </a:r>
          </a:p>
          <a:p>
            <a:pPr algn="ctr">
              <a:defRPr sz="1400" b="1">
                <a:solidFill>
                  <a:srgbClr val="1A1410"/>
                </a:solidFill>
              </a:defRPr>
            </a:pPr>
            <a:r>
              <a:t>(Drop Texts, PDFs,</a:t>
            </a:r>
          </a:p>
          <a:p>
            <a:pPr algn="ctr">
              <a:defRPr sz="1400" b="1">
                <a:solidFill>
                  <a:srgbClr val="1A1410"/>
                </a:solidFill>
              </a:defRPr>
            </a:pPr>
            <a:r>
              <a:t>Images, or Videos)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2743200"/>
            <a:ext cx="1828800" cy="1097280"/>
          </a:xfrm>
          <a:prstGeom prst="roundRect">
            <a:avLst/>
          </a:prstGeom>
          <a:solidFill>
            <a:srgbClr val="D4A24A"/>
          </a:solidFill>
          <a:ln>
            <a:solidFill>
              <a:srgbClr val="B4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410"/>
                </a:solidFill>
              </a:defRPr>
            </a:pPr>
            <a:r>
              <a:t>2. Auto Engine</a:t>
            </a:r>
          </a:p>
          <a:p>
            <a:pPr algn="ctr">
              <a:defRPr sz="1400" b="1">
                <a:solidFill>
                  <a:srgbClr val="1A1410"/>
                </a:solidFill>
              </a:defRPr>
            </a:pPr>
            <a:r>
              <a:t>(Intelligently analyzes</a:t>
            </a:r>
          </a:p>
          <a:p>
            <a:pPr algn="ctr">
              <a:defRPr sz="1400" b="1">
                <a:solidFill>
                  <a:srgbClr val="1A1410"/>
                </a:solidFill>
              </a:defRPr>
            </a:pPr>
            <a:r>
              <a:t>the input)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743200"/>
            <a:ext cx="1828800" cy="1097280"/>
          </a:xfrm>
          <a:prstGeom prst="roundRect">
            <a:avLst/>
          </a:prstGeom>
          <a:solidFill>
            <a:srgbClr val="D4A24A"/>
          </a:solidFill>
          <a:ln>
            <a:solidFill>
              <a:srgbClr val="B4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410"/>
                </a:solidFill>
              </a:defRPr>
            </a:pPr>
            <a:r>
              <a:t>3. Receive Output</a:t>
            </a:r>
          </a:p>
          <a:p>
            <a:pPr algn="ctr">
              <a:defRPr sz="1400" b="1">
                <a:solidFill>
                  <a:srgbClr val="1A1410"/>
                </a:solidFill>
              </a:defRPr>
            </a:pPr>
            <a:r>
              <a:t>(Read, Export, or</a:t>
            </a:r>
          </a:p>
          <a:p>
            <a:pPr algn="ctr">
              <a:defRPr sz="1400" b="1">
                <a:solidFill>
                  <a:srgbClr val="1A1410"/>
                </a:solidFill>
              </a:defRPr>
            </a:pPr>
            <a:r>
              <a:t>Save to History)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3108960"/>
            <a:ext cx="548640" cy="365760"/>
          </a:xfrm>
          <a:prstGeom prst="rightArrow">
            <a:avLst/>
          </a:prstGeom>
          <a:solidFill>
            <a:srgbClr val="A0A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ight Arrow 6"/>
          <p:cNvSpPr/>
          <p:nvPr/>
        </p:nvSpPr>
        <p:spPr>
          <a:xfrm>
            <a:off x="5669280" y="3108960"/>
            <a:ext cx="548640" cy="365760"/>
          </a:xfrm>
          <a:prstGeom prst="rightArrow">
            <a:avLst/>
          </a:prstGeom>
          <a:solidFill>
            <a:srgbClr val="A0A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Smart Engine Under the Hood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Lumina has two 'brains' running seamlessly without any complex settings:</a:t>
            </a:r>
          </a:p>
          <a:p>
            <a:pPr>
              <a:defRPr sz="2000"/>
            </a:pPr>
            <a:r>
              <a:rPr dirty="0"/>
              <a:t>Brain A </a:t>
            </a:r>
            <a:r>
              <a:rPr lang="en-US" dirty="0"/>
              <a:t>– </a:t>
            </a:r>
            <a:r>
              <a:rPr lang="en-IN" sz="2000" b="1" dirty="0" err="1"/>
              <a:t>dracarys</a:t>
            </a:r>
            <a:r>
              <a:rPr lang="en-IN" sz="2000" b="1" dirty="0"/>
              <a:t> via OpenAI </a:t>
            </a:r>
            <a:r>
              <a:rPr dirty="0"/>
              <a:t>(The Reader): Exceptionally fast at reading words from text and multiple documents rapidly to give you the gist.</a:t>
            </a:r>
          </a:p>
          <a:p>
            <a:pPr>
              <a:defRPr sz="2000"/>
            </a:pPr>
            <a:r>
              <a:rPr dirty="0"/>
              <a:t>Brain B </a:t>
            </a:r>
            <a:r>
              <a:rPr lang="en-US" dirty="0"/>
              <a:t>- </a:t>
            </a:r>
            <a:r>
              <a:rPr lang="en-IN" sz="2000" b="1" dirty="0"/>
              <a:t>Kimi K2.5 </a:t>
            </a:r>
            <a:r>
              <a:rPr dirty="0"/>
              <a:t>(The Watcher): Specially designed to 'look' at rich media (pictures and videos) and describe what's happening.</a:t>
            </a:r>
          </a:p>
          <a:p>
            <a:pPr>
              <a:defRPr sz="2000"/>
            </a:pPr>
            <a:r>
              <a:rPr dirty="0"/>
              <a:t>Lumina is smart enough to choose the right brain automatically based on what files you upload.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DFD1E59-8560-93AB-5C5E-9ABAD54E20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9184408"/>
              </p:ext>
            </p:extLst>
          </p:nvPr>
        </p:nvGraphicFramePr>
        <p:xfrm>
          <a:off x="484632" y="1580862"/>
          <a:ext cx="8160735" cy="4564640"/>
        </p:xfrm>
        <a:graphic>
          <a:graphicData uri="http://schemas.openxmlformats.org/drawingml/2006/table">
            <a:tbl>
              <a:tblPr/>
              <a:tblGrid>
                <a:gridCol w="4087368">
                  <a:extLst>
                    <a:ext uri="{9D8B030D-6E8A-4147-A177-3AD203B41FA5}">
                      <a16:colId xmlns:a16="http://schemas.microsoft.com/office/drawing/2014/main" val="2756664622"/>
                    </a:ext>
                  </a:extLst>
                </a:gridCol>
                <a:gridCol w="4073367">
                  <a:extLst>
                    <a:ext uri="{9D8B030D-6E8A-4147-A177-3AD203B41FA5}">
                      <a16:colId xmlns:a16="http://schemas.microsoft.com/office/drawing/2014/main" val="3350449632"/>
                    </a:ext>
                  </a:extLst>
                </a:gridCol>
              </a:tblGrid>
              <a:tr h="3620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 dirty="0">
                          <a:solidFill>
                            <a:schemeClr val="bg1"/>
                          </a:solidFill>
                          <a:effectLst/>
                        </a:rPr>
                        <a:t>Aspect</a:t>
                      </a:r>
                    </a:p>
                  </a:txBody>
                  <a:tcPr marL="90519" marR="90519" marT="45260" marB="45260" anchor="ctr">
                    <a:lnL w="12700" cap="flat" cmpd="sng" algn="ctr">
                      <a:solidFill>
                        <a:srgbClr val="C08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8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8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08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0">
                          <a:solidFill>
                            <a:schemeClr val="bg1"/>
                          </a:solidFill>
                          <a:effectLst/>
                        </a:rPr>
                        <a:t>Implementation</a:t>
                      </a:r>
                    </a:p>
                  </a:txBody>
                  <a:tcPr marL="90519" marR="90519" marT="45260" marB="45260" anchor="ctr">
                    <a:lnL w="7620" cap="flat" cmpd="sng" algn="ctr">
                      <a:solidFill>
                        <a:srgbClr val="008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8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580312"/>
                  </a:ext>
                </a:extLst>
              </a:tr>
              <a:tr h="633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</a:rPr>
                        <a:t>Architecture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0519" marR="90519" marT="45260" marB="45260" anchor="ctr">
                    <a:lnL w="12700" cap="flat" cmpd="sng" algn="ctr">
                      <a:solidFill>
                        <a:srgbClr val="808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8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08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9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Monolithic Flask app with Jinja2 templating</a:t>
                      </a:r>
                    </a:p>
                  </a:txBody>
                  <a:tcPr marL="90519" marR="90519" marT="45260" marB="45260" anchor="ctr">
                    <a:lnL w="7620" cap="flat" cmpd="sng" algn="ctr">
                      <a:solidFill>
                        <a:srgbClr val="C08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8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8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09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380642"/>
                  </a:ext>
                </a:extLst>
              </a:tr>
              <a:tr h="633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</a:rPr>
                        <a:t>AI Strategy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0519" marR="90519" marT="45260" marB="45260" anchor="ctr">
                    <a:lnL w="12700" cap="flat" cmpd="sng" algn="ctr">
                      <a:solidFill>
                        <a:srgbClr val="C09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09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9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09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effectLst/>
                        </a:rPr>
                        <a:t>Dual-model routing (text specialist + vision specialist)</a:t>
                      </a:r>
                    </a:p>
                  </a:txBody>
                  <a:tcPr marL="90519" marR="90519" marT="45260" marB="45260" anchor="ctr">
                    <a:lnL w="7620" cap="flat" cmpd="sng" algn="ctr">
                      <a:solidFill>
                        <a:srgbClr val="809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9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09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9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195598"/>
                  </a:ext>
                </a:extLst>
              </a:tr>
              <a:tr h="633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</a:rPr>
                        <a:t>Streaming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0519" marR="90519" marT="45260" marB="45260" anchor="ctr">
                    <a:lnL w="12700" cap="flat" cmpd="sng" algn="ctr">
                      <a:solidFill>
                        <a:srgbClr val="409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9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9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AE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effectLst/>
                        </a:rPr>
                        <a:t>Python generators → chunked HTTP → ReadableStream in browser</a:t>
                      </a:r>
                    </a:p>
                  </a:txBody>
                  <a:tcPr marL="90519" marR="90519" marT="45260" marB="45260" anchor="ctr">
                    <a:lnL w="7620" cap="flat" cmpd="sng" algn="ctr">
                      <a:solidFill>
                        <a:srgbClr val="C09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9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9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A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323258"/>
                  </a:ext>
                </a:extLst>
              </a:tr>
              <a:tr h="633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</a:rPr>
                        <a:t>File Processing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0519" marR="90519" marT="45260" marB="45260" anchor="ctr">
                    <a:lnL w="12700" cap="flat" cmpd="sng" algn="ctr">
                      <a:solidFill>
                        <a:srgbClr val="C0AE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A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AE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0A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effectLst/>
                        </a:rPr>
                        <a:t>PyPDF2 (PDF), python-docx (DOCX), base64 (media)</a:t>
                      </a:r>
                    </a:p>
                  </a:txBody>
                  <a:tcPr marL="90519" marR="90519" marT="45260" marB="45260" anchor="ctr">
                    <a:lnL w="7620" cap="flat" cmpd="sng" algn="ctr">
                      <a:solidFill>
                        <a:srgbClr val="C0A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A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A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A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080096"/>
                  </a:ext>
                </a:extLst>
              </a:tr>
              <a:tr h="633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</a:rPr>
                        <a:t>UI Design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0519" marR="90519" marT="45260" marB="45260" anchor="ctr">
                    <a:lnL w="12700" cap="flat" cmpd="sng" algn="ctr">
                      <a:solidFill>
                        <a:srgbClr val="40A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A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A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0A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Warm dark claymorphism with micro-animations</a:t>
                      </a:r>
                    </a:p>
                  </a:txBody>
                  <a:tcPr marL="90519" marR="90519" marT="45260" marB="45260" anchor="ctr">
                    <a:lnL w="7620" cap="flat" cmpd="sng" algn="ctr">
                      <a:solidFill>
                        <a:srgbClr val="C0A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A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A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0C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61768"/>
                  </a:ext>
                </a:extLst>
              </a:tr>
              <a:tr h="3620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</a:rPr>
                        <a:t>State Management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0519" marR="90519" marT="45260" marB="45260" anchor="ctr">
                    <a:lnL w="12700" cap="flat" cmpd="sng" algn="ctr">
                      <a:solidFill>
                        <a:srgbClr val="80A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0C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0A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B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effectLst/>
                        </a:rPr>
                        <a:t>localStorage for history, no database</a:t>
                      </a:r>
                    </a:p>
                  </a:txBody>
                  <a:tcPr marL="90519" marR="90519" marT="45260" marB="45260" anchor="ctr">
                    <a:lnL w="7620" cap="flat" cmpd="sng" algn="ctr">
                      <a:solidFill>
                        <a:srgbClr val="80C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C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0C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535623"/>
                  </a:ext>
                </a:extLst>
              </a:tr>
              <a:tr h="633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</a:rPr>
                        <a:t>Deployment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0519" marR="90519" marT="45260" marB="45260" anchor="ctr">
                    <a:lnL w="12700" cap="flat" cmpd="sng" algn="ctr">
                      <a:solidFill>
                        <a:srgbClr val="00B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B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Single 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ui-monospace"/>
                        </a:rPr>
                        <a:t>app.py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 entry point, 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ui-monospace"/>
                        </a:rPr>
                        <a:t>flask run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 on port 5000</a:t>
                      </a:r>
                    </a:p>
                  </a:txBody>
                  <a:tcPr marL="90519" marR="90519" marT="45260" marB="45260" anchor="ctr">
                    <a:lnL w="7620" cap="flat" cmpd="sng" algn="ctr">
                      <a:solidFill>
                        <a:srgbClr val="00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8222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E7566-6A8E-C67E-766C-92FA0CFC4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F7AEF-F055-3BE1-5FD6-845A5710F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963228-044F-DB40-5A72-D0651D111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702" y="665797"/>
            <a:ext cx="7479738" cy="553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691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E805-E968-1F87-9749-2B09E360F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5F200-4C4A-DDBD-803D-3FE391BAD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BC75A7-B4E2-1290-B266-37BA59B0E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120" y="0"/>
            <a:ext cx="12872720" cy="686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41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309</Words>
  <Application>Microsoft Office PowerPoint</Application>
  <PresentationFormat>On-screen Show (4:3)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ui-monospace</vt:lpstr>
      <vt:lpstr>Office Theme</vt:lpstr>
      <vt:lpstr>Lumina AI Synthesizer</vt:lpstr>
      <vt:lpstr>What Lumina Can Do</vt:lpstr>
      <vt:lpstr>How It Works (The Workflow)</vt:lpstr>
      <vt:lpstr>The Smart Engine Under the Hood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s</cp:lastModifiedBy>
  <cp:revision>2</cp:revision>
  <dcterms:created xsi:type="dcterms:W3CDTF">2013-01-27T09:14:16Z</dcterms:created>
  <dcterms:modified xsi:type="dcterms:W3CDTF">2026-04-01T04:34:31Z</dcterms:modified>
  <cp:category/>
</cp:coreProperties>
</file>